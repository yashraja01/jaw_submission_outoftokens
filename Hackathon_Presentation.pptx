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406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b="1" i="0" spc="300" dirty="0">
                <a:solidFill>
                  <a:srgbClr val="E89B5A"/>
                </a:solidFill>
                <a:latin typeface="Segoe UI"/>
              </a:rPr>
              <a:t>JAW Hackathon</a:t>
            </a:r>
            <a:r>
              <a:rPr sz="1200" b="1" i="0" spc="300" dirty="0">
                <a:solidFill>
                  <a:srgbClr val="E89B5A"/>
                </a:solidFill>
                <a:latin typeface="Segoe UI"/>
              </a:rPr>
              <a:t>·</a:t>
            </a:r>
            <a:r>
              <a:rPr lang="en-GB" sz="1200" b="1" i="0" spc="300" dirty="0">
                <a:solidFill>
                  <a:srgbClr val="E89B5A"/>
                </a:solidFill>
                <a:latin typeface="Segoe UI"/>
              </a:rPr>
              <a:t> </a:t>
            </a:r>
            <a:r>
              <a:rPr lang="en-GB" sz="1200" b="1" i="0" spc="300" dirty="0" err="1">
                <a:solidFill>
                  <a:srgbClr val="E89B5A"/>
                </a:solidFill>
                <a:latin typeface="Segoe UI"/>
              </a:rPr>
              <a:t>outoftokens</a:t>
            </a:r>
            <a:endParaRPr lang="en-GB" sz="1200" b="1" i="0" spc="300" dirty="0">
              <a:solidFill>
                <a:srgbClr val="E89B5A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200" b="1" i="0" spc="300" dirty="0">
              <a:solidFill>
                <a:srgbClr val="E89B5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241280" cy="1596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dirty="0">
                <a:solidFill>
                  <a:srgbClr val="FFFFFF"/>
                </a:solidFill>
                <a:latin typeface="Georgia"/>
              </a:rPr>
              <a:t>Answering questions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dirty="0">
                <a:solidFill>
                  <a:srgbClr val="E89B5A"/>
                </a:solidFill>
                <a:latin typeface="Georgia"/>
              </a:rPr>
              <a:t>over a 68</a:t>
            </a:r>
            <a:r>
              <a:rPr lang="en-GB" sz="5200" b="1" i="0" dirty="0">
                <a:solidFill>
                  <a:srgbClr val="E89B5A"/>
                </a:solidFill>
                <a:latin typeface="Georgia"/>
              </a:rPr>
              <a:t>0+ </a:t>
            </a:r>
            <a:r>
              <a:rPr sz="5200" b="1" i="0" dirty="0">
                <a:solidFill>
                  <a:srgbClr val="E89B5A"/>
                </a:solidFill>
                <a:latin typeface="Georgia"/>
              </a:rPr>
              <a:t>document</a:t>
            </a:r>
            <a:r>
              <a:rPr lang="en-GB" sz="5200" b="1" i="0" dirty="0">
                <a:solidFill>
                  <a:srgbClr val="E89B5A"/>
                </a:solidFill>
                <a:latin typeface="Georgia"/>
              </a:rPr>
              <a:t> bank</a:t>
            </a:r>
            <a:endParaRPr sz="5200" b="1" i="0" dirty="0">
              <a:solidFill>
                <a:srgbClr val="E89B5A"/>
              </a:solidFill>
              <a:latin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4224528"/>
            <a:ext cx="2011680" cy="25400"/>
          </a:xfrm>
          <a:prstGeom prst="rect">
            <a:avLst/>
          </a:prstGeom>
          <a:solidFill>
            <a:srgbClr val="3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8686800" cy="332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0" i="0" dirty="0">
                <a:solidFill>
                  <a:srgbClr val="B6C2CE"/>
                </a:solidFill>
                <a:latin typeface="Segoe UI"/>
              </a:rPr>
              <a:t>Rule based script is all you need. Keep the LLM away from math, please.</a:t>
            </a:r>
            <a:endParaRPr sz="1800" b="0" i="0" dirty="0">
              <a:solidFill>
                <a:srgbClr val="B6C2CE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99A8"/>
                </a:solidFill>
                <a:latin typeface="Segoe UI"/>
              </a:rPr>
              <a:t>99.4% exact match on the visible set   ·   678/678 documents classified   ·   full run under a minute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FDB67-6656-08CD-9D90-1454CAA3E56A}"/>
              </a:ext>
            </a:extLst>
          </p:cNvPr>
          <p:cNvSpPr txBox="1"/>
          <p:nvPr/>
        </p:nvSpPr>
        <p:spPr>
          <a:xfrm>
            <a:off x="777240" y="6355080"/>
            <a:ext cx="10607040" cy="242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500" b="1" i="0" dirty="0">
                <a:solidFill>
                  <a:srgbClr val="E89B5A"/>
                </a:solidFill>
                <a:latin typeface="Segoe UI"/>
              </a:rPr>
              <a:t>credits to </a:t>
            </a:r>
            <a:r>
              <a:rPr lang="en-GB" sz="1500" b="1" i="0" dirty="0" err="1">
                <a:solidFill>
                  <a:srgbClr val="E89B5A"/>
                </a:solidFill>
                <a:latin typeface="Segoe UI"/>
              </a:rPr>
              <a:t>claude</a:t>
            </a:r>
            <a:r>
              <a:rPr lang="en-GB" sz="1500" b="1" i="0" dirty="0">
                <a:solidFill>
                  <a:srgbClr val="E89B5A"/>
                </a:solidFill>
                <a:latin typeface="Segoe UI"/>
              </a:rPr>
              <a:t> for the ppt template!</a:t>
            </a:r>
            <a:endParaRPr sz="1500" b="1" i="0" dirty="0">
              <a:solidFill>
                <a:srgbClr val="E89B5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2570C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754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058400" cy="106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41B24"/>
                </a:solidFill>
                <a:latin typeface="Georgia"/>
              </a:rPr>
              <a:t>The answer is </a:t>
            </a:r>
            <a:r>
              <a:rPr lang="en-GB" sz="3400" b="1" i="0" dirty="0">
                <a:solidFill>
                  <a:srgbClr val="141B24"/>
                </a:solidFill>
                <a:latin typeface="Georgia"/>
              </a:rPr>
              <a:t>almost </a:t>
            </a:r>
            <a:r>
              <a:rPr sz="3400" b="1" i="0" dirty="0">
                <a:solidFill>
                  <a:srgbClr val="141B24"/>
                </a:solidFill>
                <a:latin typeface="Georgia"/>
              </a:rPr>
              <a:t>never in the document</a:t>
            </a:r>
            <a:r>
              <a:rPr lang="en-GB" sz="3400" b="1" dirty="0">
                <a:solidFill>
                  <a:srgbClr val="141B24"/>
                </a:solidFill>
                <a:latin typeface="Georgia"/>
              </a:rPr>
              <a:t> </a:t>
            </a:r>
            <a:r>
              <a:rPr sz="3400" b="1" i="0" dirty="0">
                <a:solidFill>
                  <a:srgbClr val="141B24"/>
                </a:solidFill>
                <a:latin typeface="Georgia"/>
              </a:rPr>
              <a:t>the question</a:t>
            </a:r>
            <a:r>
              <a:rPr lang="en-GB" sz="3400" b="1" i="0" dirty="0">
                <a:solidFill>
                  <a:srgbClr val="141B24"/>
                </a:solidFill>
                <a:latin typeface="Georgia"/>
              </a:rPr>
              <a:t> hints at!</a:t>
            </a:r>
            <a:endParaRPr sz="3400" b="1" i="0" dirty="0">
              <a:solidFill>
                <a:srgbClr val="141B24"/>
              </a:solidFill>
              <a:latin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2121408"/>
            <a:ext cx="10607040" cy="12700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89983" y="2532909"/>
            <a:ext cx="32918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4283" y="264357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dirty="0">
                <a:solidFill>
                  <a:srgbClr val="C2570C"/>
                </a:solidFill>
                <a:latin typeface="Georgia"/>
              </a:rPr>
              <a:t>687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283" y="3296899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B24"/>
                </a:solidFill>
                <a:latin typeface="Segoe UI"/>
              </a:rPr>
              <a:t>PDFs and workbooks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 dirty="0">
                <a:solidFill>
                  <a:srgbClr val="5C6875"/>
                </a:solidFill>
                <a:latin typeface="Segoe UI"/>
              </a:rPr>
              <a:t>62 client </a:t>
            </a:r>
            <a:r>
              <a:rPr sz="1200" b="0" i="0" dirty="0" err="1">
                <a:solidFill>
                  <a:srgbClr val="5C6875"/>
                </a:solidFill>
                <a:latin typeface="Segoe UI"/>
              </a:rPr>
              <a:t>organisations</a:t>
            </a:r>
            <a:r>
              <a:rPr sz="1200" b="0" i="0" dirty="0">
                <a:solidFill>
                  <a:srgbClr val="5C6875"/>
                </a:solidFill>
                <a:latin typeface="Segoe UI"/>
              </a:rPr>
              <a:t>, 15 years, no shared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65315" y="2622475"/>
            <a:ext cx="32918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9655" y="2622475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dirty="0">
                <a:solidFill>
                  <a:srgbClr val="C2570C"/>
                </a:solidFill>
                <a:latin typeface="Georgia"/>
              </a:rPr>
              <a:t>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9635" y="3378729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B24"/>
                </a:solidFill>
                <a:latin typeface="Segoe UI"/>
              </a:rPr>
              <a:t>joins per question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 dirty="0">
                <a:solidFill>
                  <a:srgbClr val="5C6875"/>
                </a:solidFill>
                <a:latin typeface="Segoe UI"/>
              </a:rPr>
              <a:t>certificate → engineer → work → client → whole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C2570C"/>
                </a:solidFill>
                <a:latin typeface="Segoe UI"/>
              </a:rPr>
              <a:t>Typical question: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0" i="1" dirty="0">
                <a:solidFill>
                  <a:srgbClr val="141B24"/>
                </a:solidFill>
                <a:latin typeface="Georgia"/>
              </a:rPr>
              <a:t>“Starting from Sunita Joshi’s Six Sigma certificate on the Ring Road Pkg-107 project, what is the combined value of every completed work for that client?”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07040" cy="250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0" i="0" dirty="0">
                <a:solidFill>
                  <a:srgbClr val="5C6875"/>
                </a:solidFill>
                <a:latin typeface="Segoe UI"/>
              </a:rPr>
              <a:t>S</a:t>
            </a:r>
            <a:r>
              <a:rPr sz="1400" b="0" i="0" dirty="0">
                <a:solidFill>
                  <a:srgbClr val="5C6875"/>
                </a:solidFill>
                <a:latin typeface="Segoe UI"/>
              </a:rPr>
              <a:t>topping</a:t>
            </a:r>
            <a:r>
              <a:rPr lang="en-GB" sz="1400" b="0" i="0" dirty="0">
                <a:solidFill>
                  <a:srgbClr val="5C6875"/>
                </a:solidFill>
                <a:latin typeface="Segoe UI"/>
              </a:rPr>
              <a:t> at the named certificate</a:t>
            </a:r>
            <a:r>
              <a:rPr sz="1400" b="0" i="0" dirty="0">
                <a:solidFill>
                  <a:srgbClr val="5C6875"/>
                </a:solidFill>
                <a:latin typeface="Segoe UI"/>
              </a:rPr>
              <a:t> there returns a plausible, wrong number</a:t>
            </a:r>
            <a:r>
              <a:rPr lang="en-GB" sz="1400" b="0" i="0" dirty="0">
                <a:solidFill>
                  <a:srgbClr val="5C6875"/>
                </a:solidFill>
                <a:latin typeface="Segoe UI"/>
              </a:rPr>
              <a:t>:</a:t>
            </a:r>
            <a:r>
              <a:rPr sz="1400" b="0" i="0" dirty="0">
                <a:solidFill>
                  <a:srgbClr val="5C6875"/>
                </a:solidFill>
                <a:latin typeface="Segoe UI"/>
              </a:rPr>
              <a:t> and several questions are built so that it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2570C"/>
                </a:solidFill>
                <a:latin typeface="Segoe UI"/>
              </a:rPr>
              <a:t>WHY THE OBVIOUS APPROACH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754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32104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41B24"/>
                </a:solidFill>
                <a:latin typeface="Georgia"/>
              </a:rPr>
              <a:t>Retrieval finds documents. These questions need a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07040" cy="12700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212848"/>
            <a:ext cx="10607040" cy="113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12848"/>
            <a:ext cx="64008" cy="1133856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368296"/>
            <a:ext cx="9784080" cy="95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141B24"/>
                </a:solidFill>
                <a:latin typeface="Georgia"/>
              </a:rPr>
              <a:t>Absence is </a:t>
            </a:r>
            <a:r>
              <a:rPr sz="1900" b="1" i="0" dirty="0" err="1">
                <a:solidFill>
                  <a:srgbClr val="141B24"/>
                </a:solidFill>
                <a:latin typeface="Georgia"/>
              </a:rPr>
              <a:t>queryable</a:t>
            </a:r>
            <a:endParaRPr sz="1900" b="1" i="0" dirty="0">
              <a:solidFill>
                <a:srgbClr val="141B24"/>
              </a:solidFill>
              <a:latin typeface="Georgia"/>
            </a:endParaRP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 dirty="0">
                <a:solidFill>
                  <a:srgbClr val="5C6875"/>
                </a:solidFill>
                <a:latin typeface="Segoe UI"/>
              </a:rPr>
              <a:t>“How many works have no reference letter?” A retriever reports zero, confidently</a:t>
            </a:r>
            <a:r>
              <a:rPr lang="en-GB" sz="1400" b="0" i="0" dirty="0">
                <a:solidFill>
                  <a:srgbClr val="5C6875"/>
                </a:solidFill>
                <a:latin typeface="Segoe UI"/>
              </a:rPr>
              <a:t>:</a:t>
            </a:r>
            <a:r>
              <a:rPr sz="1400" b="0" i="0" dirty="0">
                <a:solidFill>
                  <a:srgbClr val="5C6875"/>
                </a:solidFill>
                <a:latin typeface="Segoe UI"/>
              </a:rPr>
              <a:t> it never saw the missing thing. Proving a negative needs the boundary of the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66160"/>
            <a:ext cx="10607040" cy="113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566160"/>
            <a:ext cx="64008" cy="1133856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9784080" cy="676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141B24"/>
                </a:solidFill>
                <a:latin typeface="Georgia"/>
              </a:rPr>
              <a:t>Arithmetic must be exact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 dirty="0">
                <a:solidFill>
                  <a:srgbClr val="5C6875"/>
                </a:solidFill>
                <a:latin typeface="Segoe UI"/>
              </a:rPr>
              <a:t>Nine to nineteen ten-digit rupee figures, summed to within 0.5%.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19472"/>
            <a:ext cx="10607040" cy="113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919472"/>
            <a:ext cx="64008" cy="1133856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5138928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B24"/>
                </a:solidFill>
                <a:latin typeface="Georgia"/>
              </a:rPr>
              <a:t>Layout is not a template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>
                <a:solidFill>
                  <a:srgbClr val="5C6875"/>
                </a:solidFill>
                <a:latin typeface="Segoe UI"/>
              </a:rPr>
              <a:t>The same document type ranges from dense tables to two paragraphs of prose with the value mid-sentence.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3620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3A5C"/>
                </a:solidFill>
                <a:latin typeface="Georgia"/>
              </a:rPr>
              <a:t>So we built a fact store, not a retriever. There is no embedding index in this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E89B5A"/>
                </a:solidFill>
                <a:latin typeface="Segoe UI"/>
              </a:rPr>
              <a:t>THE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754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8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The model never sees a number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9B5A"/>
                </a:solidFill>
                <a:latin typeface="Georgia"/>
              </a:rPr>
              <a:t>and never returns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4937760" cy="3215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Segoe UI"/>
              </a:rPr>
              <a:t>It is a semantic parser, not a calculator.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 dirty="0">
                <a:solidFill>
                  <a:srgbClr val="B6C2CE"/>
                </a:solidFill>
                <a:latin typeface="Segoe UI"/>
              </a:rPr>
              <a:t>What is hard for code and easy for a model is reading “what’s left once we set the water treatment side aside” and knowing that means an exclusion.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 dirty="0">
                <a:solidFill>
                  <a:srgbClr val="B6C2CE"/>
                </a:solidFill>
                <a:latin typeface="Segoe UI"/>
              </a:rPr>
              <a:t>So it receives the question plus the estate’s own vocabulary</a:t>
            </a:r>
            <a:r>
              <a:rPr lang="en-GB" sz="1500" b="0" i="0" dirty="0">
                <a:solidFill>
                  <a:srgbClr val="B6C2CE"/>
                </a:solidFill>
                <a:latin typeface="Segoe UI"/>
              </a:rPr>
              <a:t>:</a:t>
            </a:r>
            <a:r>
              <a:rPr sz="1500" b="0" i="0" dirty="0">
                <a:solidFill>
                  <a:srgbClr val="B6C2CE"/>
                </a:solidFill>
                <a:latin typeface="Segoe UI"/>
              </a:rPr>
              <a:t> real client names, engineers, category labels, read out of the fact store at run time and returns a plan. Every rupee of arithmetic then happens in Python, in Decimal.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88920"/>
            <a:ext cx="5074920" cy="3027418"/>
          </a:xfrm>
          <a:prstGeom prst="roundRect">
            <a:avLst>
              <a:gd name="adj" fmla="val 4000"/>
            </a:avLst>
          </a:prstGeom>
          <a:solidFill>
            <a:srgbClr val="0A121B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3017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6A7C8E"/>
                </a:solidFill>
                <a:latin typeface="Segoe UI"/>
              </a:rPr>
              <a:t>PLAN RETURNED BY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401568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9ED1B8"/>
                </a:solidFill>
                <a:latin typeface="Consolas"/>
              </a:rPr>
              <a:t>{"</a:t>
            </a:r>
            <a:r>
              <a:rPr sz="1250" b="0" i="0" dirty="0" err="1">
                <a:solidFill>
                  <a:srgbClr val="9ED1B8"/>
                </a:solidFill>
                <a:latin typeface="Consolas"/>
              </a:rPr>
              <a:t>anchor_client</a:t>
            </a:r>
            <a:r>
              <a:rPr sz="1250" b="0" i="0" dirty="0">
                <a:solidFill>
                  <a:srgbClr val="9ED1B8"/>
                </a:solidFill>
                <a:latin typeface="Consolas"/>
              </a:rPr>
              <a:t>": "Irrigation &amp; Waterways Dept",
 "left":  {"source": "works", "scope": "client",
           "</a:t>
            </a:r>
            <a:r>
              <a:rPr sz="1250" b="0" i="0" dirty="0" err="1">
                <a:solidFill>
                  <a:srgbClr val="9ED1B8"/>
                </a:solidFill>
                <a:latin typeface="Consolas"/>
              </a:rPr>
              <a:t>agg</a:t>
            </a:r>
            <a:r>
              <a:rPr sz="1250" b="0" i="0" dirty="0">
                <a:solidFill>
                  <a:srgbClr val="9ED1B8"/>
                </a:solidFill>
                <a:latin typeface="Consolas"/>
              </a:rPr>
              <a:t>": "</a:t>
            </a:r>
            <a:r>
              <a:rPr sz="1250" b="0" i="0" dirty="0" err="1">
                <a:solidFill>
                  <a:srgbClr val="9ED1B8"/>
                </a:solidFill>
                <a:latin typeface="Consolas"/>
              </a:rPr>
              <a:t>sum_value</a:t>
            </a:r>
            <a:r>
              <a:rPr sz="1250" b="0" i="0" dirty="0">
                <a:solidFill>
                  <a:srgbClr val="9ED1B8"/>
                </a:solidFill>
                <a:latin typeface="Consolas"/>
              </a:rPr>
              <a:t>",
           "</a:t>
            </a:r>
            <a:r>
              <a:rPr sz="1250" b="0" i="0" dirty="0" err="1">
                <a:solidFill>
                  <a:srgbClr val="9ED1B8"/>
                </a:solidFill>
                <a:latin typeface="Consolas"/>
              </a:rPr>
              <a:t>categories_not_in</a:t>
            </a:r>
            <a:r>
              <a:rPr sz="1250" b="0" i="0" dirty="0">
                <a:solidFill>
                  <a:srgbClr val="9ED1B8"/>
                </a:solidFill>
                <a:latin typeface="Consolas"/>
              </a:rPr>
              <a:t>": ["water treatment"]},
 "right": {"source": "none"},
 "combine": "left"}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138928"/>
            <a:ext cx="4572000" cy="471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8A99A8"/>
                </a:solidFill>
                <a:latin typeface="Segoe UI"/>
              </a:rPr>
              <a:t>Validated against a fixed vocabulary. Entities resolved
against the corpus </a:t>
            </a:r>
            <a:r>
              <a:rPr lang="en-GB" sz="1200" b="0" i="0" dirty="0">
                <a:solidFill>
                  <a:srgbClr val="8A99A8"/>
                </a:solidFill>
                <a:latin typeface="Segoe UI"/>
              </a:rPr>
              <a:t>and</a:t>
            </a:r>
            <a:r>
              <a:rPr sz="1200" b="0" i="0" dirty="0">
                <a:solidFill>
                  <a:srgbClr val="8A99A8"/>
                </a:solidFill>
                <a:latin typeface="Segoe UI"/>
              </a:rPr>
              <a:t> never accepted as free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2570C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754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41B24"/>
                </a:solidFill>
                <a:latin typeface="Georgia"/>
              </a:rPr>
              <a:t>One command: documents in, submission.csv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12700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B24"/>
                </a:solidFill>
                <a:latin typeface="Georgia"/>
              </a:rPr>
              <a:t>INGEST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5C6875"/>
                </a:solidFill>
                <a:latin typeface="Segoe UI"/>
              </a:rPr>
              <a:t>walk the tree; classify
every file by its own text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194560" y="2990088"/>
            <a:ext cx="100584" cy="146304"/>
          </a:xfrm>
          <a:prstGeom prst="triangle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13432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59736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B24"/>
                </a:solidFill>
                <a:latin typeface="Georgia"/>
              </a:rPr>
              <a:t>PARSE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5C6875"/>
                </a:solidFill>
                <a:latin typeface="Segoe UI"/>
              </a:rPr>
              <a:t>typed records; all money
through one Decimal parser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3730752" y="2990088"/>
            <a:ext cx="100584" cy="146304"/>
          </a:xfrm>
          <a:prstGeom prst="triangle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49624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5928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B24"/>
                </a:solidFill>
                <a:latin typeface="Georgia"/>
              </a:rPr>
              <a:t>STORE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5C6875"/>
                </a:solidFill>
                <a:latin typeface="Segoe UI"/>
              </a:rPr>
              <a:t>join into facts.db —
works, invoices, CVs, bonds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5266944" y="2990088"/>
            <a:ext cx="100584" cy="146304"/>
          </a:xfrm>
          <a:prstGeom prst="triangle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85816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B24"/>
                </a:solidFill>
                <a:latin typeface="Georgia"/>
              </a:rPr>
              <a:t>RESOLVE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5C6875"/>
                </a:solidFill>
                <a:latin typeface="Segoe UI"/>
              </a:rPr>
              <a:t>which client, engineer,
work the question points at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6803136" y="2990088"/>
            <a:ext cx="100584" cy="146304"/>
          </a:xfrm>
          <a:prstGeom prst="triangle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22008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DF3E8"/>
          </a:solidFill>
          <a:ln w="12700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68312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141B24"/>
                </a:solidFill>
                <a:latin typeface="Georgia"/>
              </a:rPr>
              <a:t>PLAN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 dirty="0">
                <a:solidFill>
                  <a:srgbClr val="5C6875"/>
                </a:solidFill>
                <a:latin typeface="Segoe UI"/>
              </a:rPr>
              <a:t>model + rules, in parallel,
both emitting the same DSL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8339328" y="2990088"/>
            <a:ext cx="100584" cy="146304"/>
          </a:xfrm>
          <a:prstGeom prst="triangle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58200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4504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B24"/>
                </a:solidFill>
                <a:latin typeface="Georgia"/>
              </a:rPr>
              <a:t>EXECUTE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5C6875"/>
                </a:solidFill>
                <a:latin typeface="Segoe UI"/>
              </a:rPr>
              <a:t>plan → number,
exact arithmetic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9875520" y="2990088"/>
            <a:ext cx="100584" cy="146304"/>
          </a:xfrm>
          <a:prstGeom prst="triangle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94392" y="2148840"/>
            <a:ext cx="1389888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0696" y="233172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570C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696" y="2624328"/>
            <a:ext cx="11338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B24"/>
                </a:solidFill>
                <a:latin typeface="Georgia"/>
              </a:rPr>
              <a:t>RECONCILE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5C6875"/>
                </a:solidFill>
                <a:latin typeface="Segoe UI"/>
              </a:rPr>
              <a:t>one answer per question,
plus the derivation 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" y="4421123"/>
            <a:ext cx="10607040" cy="932688"/>
          </a:xfrm>
          <a:prstGeom prst="roundRect">
            <a:avLst>
              <a:gd name="adj" fmla="val 4000"/>
            </a:avLst>
          </a:prstGeom>
          <a:solidFill>
            <a:srgbClr val="EFECE6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9848" y="4517136"/>
            <a:ext cx="10058400" cy="803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B24"/>
                </a:solidFill>
                <a:latin typeface="Segoe UI"/>
              </a:rPr>
              <a:t>Ingestion does not trust the filesystem.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 i="0" dirty="0">
                <a:solidFill>
                  <a:srgbClr val="5C6875"/>
                </a:solidFill>
                <a:latin typeface="Segoe UI"/>
              </a:rPr>
              <a:t>No part of the pipeline reads a path or filename to decide what a document is</a:t>
            </a:r>
            <a:r>
              <a:rPr lang="en-GB" sz="1250" b="0" i="0" dirty="0">
                <a:solidFill>
                  <a:srgbClr val="5C6875"/>
                </a:solidFill>
                <a:latin typeface="Segoe UI"/>
              </a:rPr>
              <a:t>:</a:t>
            </a:r>
            <a:r>
              <a:rPr sz="1250" b="0" i="0" dirty="0">
                <a:solidFill>
                  <a:srgbClr val="5C6875"/>
                </a:solidFill>
                <a:latin typeface="Segoe UI"/>
              </a:rPr>
              <a:t> each file is classified by title-line signatures against its own text, and the contractor’s letterhead is discovered as whichever appears on the most documents.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</a:rPr>
              <a:t>./run.sh --docs DIR --questions questions.json --out submission.csv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C6875"/>
                </a:solidFill>
                <a:latin typeface="Segoe UI"/>
              </a:rPr>
              <a:t>687 documents ingested in ~25 seconds; the whole run, model aside, is under a minute.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54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2570C"/>
                </a:solidFill>
                <a:latin typeface="Segoe U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754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B24"/>
                </a:solidFill>
                <a:latin typeface="Georgia"/>
              </a:rPr>
              <a:t>Two planners, and a rule for who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12700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1B24"/>
                </a:solidFill>
                <a:latin typeface="Georgia"/>
              </a:rPr>
              <a:t>Model planner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350" b="0" i="0">
                <a:solidFill>
                  <a:srgbClr val="5C6875"/>
                </a:solidFill>
                <a:latin typeface="Segoe UI"/>
              </a:rPr>
              <a:t>Reads intent. Sampled three times, given the corpus’s real vocabulary. Handles phrasings nobody anticipated.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9672" y="2103120"/>
            <a:ext cx="486460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2331720"/>
            <a:ext cx="4297680" cy="1207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141B24"/>
                </a:solidFill>
                <a:latin typeface="Georgia"/>
              </a:rPr>
              <a:t>Rule planner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350" b="0" i="0" dirty="0">
                <a:solidFill>
                  <a:srgbClr val="5C6875"/>
                </a:solidFill>
                <a:latin typeface="Segoe UI"/>
              </a:rPr>
              <a:t>Reads grammar, not phrases</a:t>
            </a:r>
            <a:r>
              <a:rPr lang="en-GB" sz="1350" b="0" i="0" dirty="0">
                <a:solidFill>
                  <a:srgbClr val="5C6875"/>
                </a:solidFill>
                <a:latin typeface="Segoe UI"/>
              </a:rPr>
              <a:t>.</a:t>
            </a:r>
            <a:r>
              <a:rPr sz="1350" b="0" i="0" dirty="0">
                <a:solidFill>
                  <a:srgbClr val="5C6875"/>
                </a:solidFill>
                <a:latin typeface="Segoe UI"/>
              </a:rPr>
              <a:t> stems and structural cues: two years named, two category labels, a superlative with a runner-up.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3A5C"/>
                </a:solidFill>
                <a:latin typeface="Georgia"/>
              </a:rPr>
              <a:t>Majority voting alone cannot justify overturning the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52544"/>
            <a:ext cx="10607040" cy="511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>
                <a:solidFill>
                  <a:srgbClr val="5C6875"/>
                </a:solidFill>
                <a:latin typeface="Segoe UI"/>
              </a:rPr>
              <a:t>Sampling three times protects against a model that misreads at random</a:t>
            </a:r>
            <a:r>
              <a:rPr lang="en-GB" sz="1350" b="0" i="0" dirty="0">
                <a:solidFill>
                  <a:srgbClr val="5C6875"/>
                </a:solidFill>
                <a:latin typeface="Segoe UI"/>
              </a:rPr>
              <a:t>-</a:t>
            </a:r>
            <a:r>
              <a:rPr sz="1350" b="0" i="0" dirty="0">
                <a:solidFill>
                  <a:srgbClr val="5C6875"/>
                </a:solidFill>
                <a:latin typeface="Segoe UI"/>
              </a:rPr>
              <a:t> not against one that misreads the same question the same way every time, which is how a real model fails. Measured against a mock endpoint wrong on 30% of questions: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5138928"/>
          <a:ext cx="106070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model behaviour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trust rules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trust consensus (default)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trust 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faithful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6F50"/>
                          </a:solidFill>
                          <a:latin typeface="Segoe UI"/>
                        </a:rPr>
                        <a:t>0.994</a:t>
                      </a:r>
                    </a:p>
                  </a:txBody>
                  <a:tcPr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30% wrong, independently each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6F50"/>
                          </a:solidFill>
                          <a:latin typeface="Segoe UI"/>
                        </a:rPr>
                        <a:t>0.994</a:t>
                      </a:r>
                    </a:p>
                  </a:txBody>
                  <a:tcPr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0.868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30% wrong, same misreading every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6F50"/>
                          </a:solidFill>
                          <a:latin typeface="Segoe UI"/>
                        </a:rPr>
                        <a:t>0.949</a:t>
                      </a:r>
                    </a:p>
                  </a:txBody>
                  <a:tcPr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4"/>
                          </a:solidFill>
                          <a:latin typeface="Segoe UI"/>
                        </a:rP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7240" y="64465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875"/>
                </a:solidFill>
                <a:latin typeface="Segoe UI"/>
              </a:rPr>
              <a:t>Default policy: the model is given only the questions the rules admit they are unsure about (~20%), and must be unanimous even there.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427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2570C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754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5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3656"/>
            <a:ext cx="10058400" cy="106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41B24"/>
                </a:solidFill>
                <a:latin typeface="Georgia"/>
              </a:rPr>
              <a:t>99.4% exact match</a:t>
            </a:r>
            <a:r>
              <a:rPr lang="en-GB" sz="3400" b="1" i="0" dirty="0">
                <a:solidFill>
                  <a:srgbClr val="141B24"/>
                </a:solidFill>
                <a:latin typeface="Georgia"/>
              </a:rPr>
              <a:t>:</a:t>
            </a:r>
            <a:r>
              <a:rPr sz="3400" b="1" i="0" dirty="0">
                <a:solidFill>
                  <a:srgbClr val="141B24"/>
                </a:solidFill>
                <a:latin typeface="Georgia"/>
              </a:rPr>
              <a:t> with the model switched off entirely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12700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120640" cy="2880360"/>
          </a:xfrm>
          <a:prstGeom prst="roundRect">
            <a:avLst>
              <a:gd name="adj" fmla="val 4000"/>
            </a:avLst>
          </a:prstGeom>
          <a:solidFill>
            <a:srgbClr val="111C28"/>
          </a:solidFill>
          <a:ln w="12700">
            <a:solidFill>
              <a:srgbClr val="111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3957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E89B5A"/>
                </a:solidFill>
                <a:latin typeface="Segoe UI"/>
              </a:rPr>
              <a:t>VISIBLE SET — 333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331 / 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6C2CE"/>
                </a:solidFill>
                <a:latin typeface="Segoe UI"/>
              </a:rPr>
              <a:t>exact match  =  0.9940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133087"/>
            <a:ext cx="4297680" cy="12700"/>
          </a:xfrm>
          <a:prstGeom prst="rect">
            <a:avLst/>
          </a:prstGeom>
          <a:solidFill>
            <a:srgbClr val="2E3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37083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266 / 268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8A99A8"/>
                </a:solidFill>
                <a:latin typeface="Segoe UI"/>
              </a:rPr>
              <a:t>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37083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31 / 31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8A99A8"/>
                </a:solidFill>
                <a:latin typeface="Segoe UI"/>
              </a:rPr>
              <a:t>percent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7083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24 / 24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8A99A8"/>
                </a:solidFill>
                <a:latin typeface="Segoe UI"/>
              </a:rPr>
              <a:t>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37083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10 / 10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8A99A8"/>
                </a:solidFill>
                <a:latin typeface="Segoe UI"/>
              </a:rPr>
              <a:t>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2148840"/>
            <a:ext cx="4864608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03136" y="2249424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C2570C"/>
                </a:solidFill>
                <a:latin typeface="Segoe UI"/>
              </a:rPr>
              <a:t>678 / 678  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 i="0" dirty="0">
                <a:solidFill>
                  <a:srgbClr val="141B24"/>
                </a:solidFill>
                <a:latin typeface="Segoe UI"/>
              </a:rPr>
              <a:t>PDFs classified by content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 dirty="0">
                <a:solidFill>
                  <a:srgbClr val="5C6875"/>
                </a:solidFill>
                <a:latin typeface="Segoe UI"/>
              </a:rPr>
              <a:t>every type count matches the briefing exactly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3154680"/>
            <a:ext cx="4864608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3236976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C2570C"/>
                </a:solidFill>
                <a:latin typeface="Segoe UI"/>
              </a:rPr>
              <a:t>&lt; 1 minute  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 i="0" dirty="0">
                <a:solidFill>
                  <a:srgbClr val="141B24"/>
                </a:solidFill>
                <a:latin typeface="Segoe UI"/>
              </a:rPr>
              <a:t>end-to-end run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 dirty="0">
                <a:solidFill>
                  <a:srgbClr val="5C6875"/>
                </a:solidFill>
                <a:latin typeface="Segoe UI"/>
              </a:rPr>
              <a:t>687 documents, ingest to submission.csv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9672" y="4160520"/>
            <a:ext cx="4864608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3136" y="4215384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C2570C"/>
                </a:solidFill>
                <a:latin typeface="Segoe UI"/>
              </a:rPr>
              <a:t>0 blank rows  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 i="0" dirty="0">
                <a:solidFill>
                  <a:srgbClr val="141B24"/>
                </a:solidFill>
                <a:latin typeface="Segoe UI"/>
              </a:rPr>
              <a:t>nothing is left unanswered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 dirty="0">
                <a:solidFill>
                  <a:srgbClr val="5C6875"/>
                </a:solidFill>
                <a:latin typeface="Segoe UI"/>
              </a:rPr>
              <a:t>a failed plan still emits a scale-appropriate 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85232"/>
            <a:ext cx="10607040" cy="865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B24"/>
                </a:solidFill>
                <a:latin typeface="Segoe UI"/>
              </a:rPr>
              <a:t>The two misses are the same question shape.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0" i="0" dirty="0">
                <a:solidFill>
                  <a:srgbClr val="5C6875"/>
                </a:solidFill>
                <a:latin typeface="Segoe UI"/>
              </a:rPr>
              <a:t>It names an engineer and a credential but no client, then asks about “that client’s works”. The engineer has six clients and one work with each</a:t>
            </a:r>
            <a:r>
              <a:rPr lang="en-GB" sz="1300" b="0" i="0" dirty="0">
                <a:solidFill>
                  <a:srgbClr val="5C6875"/>
                </a:solidFill>
                <a:latin typeface="Segoe UI"/>
              </a:rPr>
              <a:t>:</a:t>
            </a:r>
            <a:r>
              <a:rPr sz="1300" b="0" i="0" dirty="0">
                <a:solidFill>
                  <a:srgbClr val="5C6875"/>
                </a:solidFill>
                <a:latin typeface="Segoe UI"/>
              </a:rPr>
              <a:t> nothing in the corpus says which is meant. We report it rather than paper over it: ~0.6% of a set this size, and no principled rule recovers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E89B5A"/>
                </a:solidFill>
                <a:latin typeface="Segoe UI"/>
              </a:rPr>
              <a:t>WHAT WE'D WANT YOU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6E80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67335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The fact store is the deliverable, not the retriever.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>
                <a:solidFill>
                  <a:srgbClr val="A6B3C0"/>
                </a:solidFill>
                <a:latin typeface="Segoe UI"/>
              </a:rPr>
              <a:t>These questions are joins, not similarity searches. A join is what a fact store is for, and it is exact where a retriever is approximate.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25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6E80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80720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The model parses meaning; Python does the maths.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>
                <a:solidFill>
                  <a:srgbClr val="A6B3C0"/>
                </a:solidFill>
                <a:latin typeface="Segoe UI"/>
              </a:rPr>
              <a:t>A validated plan DSL is the only thing that crosses the boundary — so a model mistake is a wrong plan we can log, never a silently wrong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6E80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3941064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Entity resolution is where the score is won.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>
                <a:solidFill>
                  <a:srgbClr val="A6B3C0"/>
                </a:solidFill>
                <a:latin typeface="Segoe UI"/>
              </a:rPr>
              <a:t>Correct arithmetic over the wrong client passes every sanity check there is. IDF-weighted matching, with work-name tokens discounted.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932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6E80"/>
                </a:solidFill>
                <a:latin typeface="Georgia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507492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It degrades, it doesn't fail.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0" i="0">
                <a:solidFill>
                  <a:srgbClr val="A6B3C0"/>
                </a:solidFill>
                <a:latin typeface="Segoe UI"/>
              </a:rPr>
              <a:t>Dead endpoint, rejected response_format, truncated reply, blown budget — every path falls through to the rules and still writes a complete CSV.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144768"/>
            <a:ext cx="10607040" cy="12700"/>
          </a:xfrm>
          <a:prstGeom prst="rect">
            <a:avLst/>
          </a:prstGeom>
          <a:solidFill>
            <a:srgbClr val="2E3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355080"/>
            <a:ext cx="10607040" cy="242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E89B5A"/>
                </a:solidFill>
                <a:latin typeface="Segoe UI"/>
              </a:rPr>
              <a:t>Thank you  ·</a:t>
            </a:r>
            <a:r>
              <a:rPr lang="en-GB" sz="1500" b="1" i="0" dirty="0">
                <a:solidFill>
                  <a:srgbClr val="E89B5A"/>
                </a:solidFill>
                <a:latin typeface="Segoe UI"/>
              </a:rPr>
              <a:t> </a:t>
            </a:r>
            <a:r>
              <a:rPr lang="en-GB" sz="1500" b="1" i="0" dirty="0" err="1">
                <a:solidFill>
                  <a:srgbClr val="E89B5A"/>
                </a:solidFill>
                <a:latin typeface="Segoe UI"/>
              </a:rPr>
              <a:t>outoftokens</a:t>
            </a:r>
            <a:endParaRPr sz="1500" b="1" i="0" dirty="0">
              <a:solidFill>
                <a:srgbClr val="E89B5A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1145</Words>
  <Application>Microsoft Office PowerPoint</Application>
  <PresentationFormat>Widescreen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Raja</cp:lastModifiedBy>
  <cp:revision>3</cp:revision>
  <dcterms:created xsi:type="dcterms:W3CDTF">2013-01-27T09:14:16Z</dcterms:created>
  <dcterms:modified xsi:type="dcterms:W3CDTF">2026-08-15T11:00:13Z</dcterms:modified>
  <cp:category/>
</cp:coreProperties>
</file>